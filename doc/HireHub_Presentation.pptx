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79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029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173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HireHub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40080" y="248716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Job Portal with AI-Driven Resume Matching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286000" y="3154680"/>
            <a:ext cx="4572000" cy="27432"/>
          </a:xfrm>
          <a:prstGeom prst="rect">
            <a:avLst/>
          </a:prstGeom>
          <a:solidFill>
            <a:srgbClr val="1E88E5">
              <a:alpha val="50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2461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Presentation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Mayur Vijay Shewale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6177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 ·   Spring Boot 3   ·   MySQL 8   ·   Apache PDFBox   ·   WebSocket / STOMP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6032" y="1078992"/>
            <a:ext cx="285292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078992"/>
            <a:ext cx="285292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126187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187452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Bridging the Gap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5760" y="2331720"/>
            <a:ext cx="263347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employers and job seekers through a unified, intelligent platform that removes friction from the entire hiring lifecycle.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18688" y="1078992"/>
            <a:ext cx="285292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18688" y="1078992"/>
            <a:ext cx="285292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26187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28416" y="187452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First-Screen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328416" y="2331720"/>
            <a:ext cx="263347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auto-scores resumes against job requirements, eliminating hours of manual review for every vacancy.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81344" y="1078992"/>
            <a:ext cx="285292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81344" y="1078992"/>
            <a:ext cx="285292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6" y="126187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1072" y="1874520"/>
            <a:ext cx="2633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Transparency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91072" y="2331720"/>
            <a:ext cx="2633472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status updates and integrated messaging channels ensure candidates always know where they stand.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097280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" y="137160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61872" y="118872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Inefficient Manual Screening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61872" y="1572768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spend excessive hours reading unqualified resumes, creating hiring bottlenecks that slow down the entire recruitment pipeline.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0040" y="2395728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395728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" y="2670048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2670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61872" y="248716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Candidate Visibility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261872" y="2871216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submit applications and receive no feedback on their status — no acknowledgment, no updates, no visibility into the process.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0040" y="3694176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3694176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0352" y="3968496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3968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61872" y="378561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Communication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261872" y="4169664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conversations are scattered across emails and phone calls with no centralized, real-time channel embedded within the platform itself.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097280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1371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118872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Match Scoring Engine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61872" y="1572768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keyword extraction engine using Apache PDFBox to auto-calculate a 0–100% match score for every application — before a recruiter opens a single CV.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" y="2395728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395728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67004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248716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WebSocket Chat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61872" y="2871216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STOMP over WebSockets for secure, private P2P messaging between employers and candidates directly within the platform.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20040" y="3694176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694176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968496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378561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ATS Status Dashboard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261872" y="4169664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interactive Applicant Tracking System letting employers manage, filter, and advance candidates through visual hiring pipeline stages.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System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6032" y="105156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051560"/>
            <a:ext cx="4114800" cy="4572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" y="1051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Platforms  (LinkedIn / Indeed)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6002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job listing databases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keyword-based job search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job posting tools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notifications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 functionality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73168" y="105156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73168" y="1051560"/>
            <a:ext cx="411480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18888" y="1051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Gaps Identified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19472" y="16002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native AI resume-match scoring for employers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applications — seekers get no real-time updates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in-platform chat between parties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quiz / skill-filter system built-in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push notifications for instant interview alerts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6032" y="1078992"/>
            <a:ext cx="285292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078992"/>
            <a:ext cx="2852928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53312" y="1234440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252728"/>
            <a:ext cx="621792" cy="621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" y="1984248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" y="2304288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Match Score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5760" y="2761488"/>
            <a:ext cx="26334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keyword-based NLP scoring engine delivers a 0–100% match percentage for every resume, empowering data-driven shortlisting decisions instantly.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18688" y="1078992"/>
            <a:ext cx="285292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18688" y="1078992"/>
            <a:ext cx="28529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15968" y="1234440"/>
            <a:ext cx="658368" cy="6583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252728"/>
            <a:ext cx="621792" cy="6217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10128" y="1984248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310128" y="2304288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Quiz Filtering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328416" y="2761488"/>
            <a:ext cx="26334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technical quizzes automatically rank and filter candidates by skill level before they ever reach the employer's dashboard review.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181344" y="1078992"/>
            <a:ext cx="285292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81344" y="1078992"/>
            <a:ext cx="2852928" cy="914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278624" y="1234440"/>
            <a:ext cx="658368" cy="65836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1252728"/>
            <a:ext cx="621792" cy="6217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72784" y="1984248"/>
            <a:ext cx="267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Connectivity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272784" y="2304288"/>
            <a:ext cx="2670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Notification Alerts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291072" y="2761488"/>
            <a:ext cx="26334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push notifications deliver instant interview invitations and status updates directly to the candidate's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Feasibility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6032" y="1078992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078992"/>
            <a:ext cx="91440" cy="17190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5331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 + Vite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78992" y="1581912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SPA architecture with lightning-fast hot-reload. Vite build tooling ensures sub-second dev feedback and optimized production bundles.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00016" y="1078992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0016" y="1078992"/>
            <a:ext cx="91440" cy="17190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35331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22976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 3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522976" y="1581912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Java framework with auto-configuration. RESTful API design ensures clean separation and horizontal scalability under load.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56032" y="2999232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56032" y="2999232"/>
            <a:ext cx="91440" cy="1719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7355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8992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8.0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78992" y="3502152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RDBMS handling complex joins across 22 normalized tables. ACID compliance guarantees data integrity for all recruitment transactions.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700016" y="2999232"/>
            <a:ext cx="42519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0016" y="2999232"/>
            <a:ext cx="91440" cy="17190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3273552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22976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 CDN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522976" y="3502152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Offloads all binary storage (PDFs, profile images) to a managed CDN, eliminating server disk I/O and delivering global asset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Requirements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6032" y="1051560"/>
            <a:ext cx="285292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051560"/>
            <a:ext cx="285292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05156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Stack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93192" y="1581912"/>
            <a:ext cx="2606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  (LTS)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PDFBox 3.x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Build Tool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(DB)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18688" y="1051560"/>
            <a:ext cx="285292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18688" y="1051560"/>
            <a:ext cx="285292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105156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Stack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355848" y="1581912"/>
            <a:ext cx="2606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20+ (LTS)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(State)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(HTTP Client)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(IDE)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81344" y="1051560"/>
            <a:ext cx="285292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81344" y="1051560"/>
            <a:ext cx="2852928" cy="457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72784" y="1051560"/>
            <a:ext cx="267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 &amp; Services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318504" y="1581912"/>
            <a:ext cx="2606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(Storage)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/ Sendinblue (SMTP)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STOMP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(JSON)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(Auth)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(Hashing)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(IDE)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097280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1371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118872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 3 — RESTful Framework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61872" y="1572768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Auto-configured application context with embedded Tomcat server. RESTful controller design (GET/POST/PUT/DELETE) provides clean API contracts consumed by the React frontend.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" y="2395728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395728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67004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248716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Security + JWT — Stateless Auth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61872" y="2871216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on registration. JWT tokens issued on login with configurable expiry — no server-side session state, enabling true horizontal scaling.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20040" y="3694176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694176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968496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378561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Data JPA — ORM &amp; Database Layer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261872" y="4169664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abstracts all SQL. Hibernate ORM maps 22 entity classes to MySQL tables, with lazy loading and query optimization via JPQL named queries.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097280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1371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118872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 + Vite — High-Performance Builds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61872" y="1572768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architecture with Vite's ES-module bundler delivers near-instant HMR during development and highly optimized tree-shaken bundles for production.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" y="2395728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395728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67004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248716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Zustand — Global State Management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61872" y="2871216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hook-based state store manages two critical global contexts: Authentication (user session/token) and Chat (WebSocket connection &amp; message threads).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20040" y="3694176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694176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968496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378561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Framer Motion — Premium Micro-Animations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261872" y="4169664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animation library powers smooth page transitions, card hover effects, and notification entry animations — delivering a polished, professional UX feel.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1097280"/>
            <a:ext cx="281635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097280"/>
            <a:ext cx="2816352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115568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TIER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" y="1444752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SPA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38912" y="1847088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" y="1847088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 &amp; Apply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" y="2505456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505456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Dashboard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8912" y="3163824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" y="316382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8912" y="3822192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382219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Interface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0" y="1097280"/>
            <a:ext cx="281635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0" y="1097280"/>
            <a:ext cx="2816352" cy="6217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46120" y="1115568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TIER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246120" y="1444752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API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364992" y="1847088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64992" y="1847088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64992" y="2505456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64992" y="2505456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Engine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364992" y="3163824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64992" y="316382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STOMP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64992" y="3822192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64992" y="382219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(JWT)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126480" y="1097280"/>
            <a:ext cx="281635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26480" y="1097280"/>
            <a:ext cx="2816352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72200" y="1115568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TIER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172200" y="1444752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+ Cloudinary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291072" y="1847088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91072" y="1847088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DB Tables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291072" y="2505456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91072" y="2505456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CDN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291072" y="3163824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291072" y="316382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Repositories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291072" y="3822192"/>
            <a:ext cx="2487168" cy="502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91072" y="3822192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SMTP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090672" y="2743200"/>
            <a:ext cx="137160" cy="2743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072384" y="2606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⟷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6035040" y="2743200"/>
            <a:ext cx="137160" cy="2743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16752" y="2606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8909C"/>
                </a:solidFill>
              </a:rPr>
              <a:t>⟷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2834640" y="4663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  &amp;  WebSocket (STOMP)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 &amp; Entities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1051560"/>
            <a:ext cx="1645920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" y="1417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274320" y="23774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48840" y="107899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48840" y="1078992"/>
            <a:ext cx="73152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76856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86200" y="107899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86200" y="1078992"/>
            <a:ext cx="73152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14216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23560" y="107899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23560" y="1078992"/>
            <a:ext cx="73152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51576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60920" y="107899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60920" y="1078992"/>
            <a:ext cx="73152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88936" y="10789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148840" y="167335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48840" y="1673352"/>
            <a:ext cx="73152" cy="4754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76856" y="167335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quiz_questions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886200" y="167335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886200" y="1673352"/>
            <a:ext cx="73152" cy="4754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14216" y="167335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quiz_attempts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623560" y="167335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23560" y="1673352"/>
            <a:ext cx="73152" cy="4754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51576" y="167335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60920" y="167335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60920" y="1673352"/>
            <a:ext cx="73152" cy="4754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88936" y="167335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148840" y="226771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148840" y="2267712"/>
            <a:ext cx="73152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276856" y="226771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job_categories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886200" y="226771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886200" y="2267712"/>
            <a:ext cx="73152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014216" y="226771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623560" y="226771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623560" y="2267712"/>
            <a:ext cx="73152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51576" y="226771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job_skills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360920" y="226771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360920" y="2267712"/>
            <a:ext cx="73152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488936" y="226771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user_skills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148840" y="286207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148840" y="2862072"/>
            <a:ext cx="73152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276856" y="286207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shortlists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3886200" y="286207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886200" y="2862072"/>
            <a:ext cx="73152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014216" y="286207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623560" y="286207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623560" y="2862072"/>
            <a:ext cx="73152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751576" y="286207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360920" y="286207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360920" y="2862072"/>
            <a:ext cx="73152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488936" y="286207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2148840" y="345643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A355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148840" y="3456432"/>
            <a:ext cx="73152" cy="47548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276856" y="345643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seekers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3886200" y="345643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A355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886200" y="3456432"/>
            <a:ext cx="73152" cy="47548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014216" y="345643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5623560" y="345643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A355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623560" y="3456432"/>
            <a:ext cx="73152" cy="47548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751576" y="345643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7360920" y="345643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A3550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360920" y="3456432"/>
            <a:ext cx="73152" cy="475488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488936" y="345643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2148840" y="405079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78909C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148840" y="4050792"/>
            <a:ext cx="73152" cy="47548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276856" y="40507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3886200" y="4050792"/>
            <a:ext cx="164592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78909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3886200" y="4050792"/>
            <a:ext cx="73152" cy="47548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014216" y="4050792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email_logs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— Use Case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1051560"/>
            <a:ext cx="41148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1051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Seeker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84048" y="1581912"/>
            <a:ext cx="3749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Jobs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a Job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Application Status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Technical Quiz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Employer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Push Notifications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(PDF)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0060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0600" y="1051560"/>
            <a:ext cx="411480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115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85232" y="1051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 / Recruiter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56048" y="1581912"/>
            <a:ext cx="37490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Job Vacancy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AI Match Scores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Candidates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Application Status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Candidate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Interviews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Quiz Results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Company Profile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— Sequence Diagram  (Application Flow)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1188720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1887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" y="1673352"/>
            <a:ext cx="73152" cy="365760"/>
          </a:xfrm>
          <a:prstGeom prst="rect">
            <a:avLst/>
          </a:prstGeom>
          <a:solidFill>
            <a:srgbClr val="BBCCD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1078992"/>
            <a:ext cx="8001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14400" y="1078992"/>
            <a:ext cx="9144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11247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Seeker Submits Application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97280" y="147218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clicks Apply → POST /api/applications with Job ID &amp; User ID sent to backend REST endpoint.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148840"/>
            <a:ext cx="475488" cy="47548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1488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5488" y="2633472"/>
            <a:ext cx="73152" cy="365760"/>
          </a:xfrm>
          <a:prstGeom prst="rect">
            <a:avLst/>
          </a:prstGeom>
          <a:solidFill>
            <a:srgbClr val="BBCCD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2039112"/>
            <a:ext cx="8001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14400" y="2039112"/>
            <a:ext cx="91440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7280" y="20848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Analysis Triggered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97280" y="2432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ApplicationService calls AIMatchService → Apache PDFBox parses the candidate's resume PDF into raw text tokens.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108960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108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75488" y="3593592"/>
            <a:ext cx="73152" cy="365760"/>
          </a:xfrm>
          <a:prstGeom prst="rect">
            <a:avLst/>
          </a:prstGeom>
          <a:solidFill>
            <a:srgbClr val="BBCCD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2999232"/>
            <a:ext cx="8001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14400" y="2999232"/>
            <a:ext cx="9144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97280" y="30449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Score Calculated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97280" y="33924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list vs. job-requirement keywords → Match % = (Matched / Total Requirements) × 100. Score persisted to DB.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4069080"/>
            <a:ext cx="475488" cy="47548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069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14400" y="3959352"/>
            <a:ext cx="8001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14400" y="3959352"/>
            <a:ext cx="91440" cy="8046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97280" y="40050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Employer Dashboard Updated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97280" y="435254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written to Application record → WebSocket event pushes real-time notification to Employer's ATS dashboard.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AI Match Scoring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6032" y="1051560"/>
            <a:ext cx="28529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051560"/>
            <a:ext cx="285292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53312" y="1188720"/>
            <a:ext cx="658368" cy="6583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53312" y="1188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7472" y="193852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Ingestion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2331720"/>
            <a:ext cx="26700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PDFBox 3.x extracts raw text from any uploaded resume — bypassing file formatting to access pure content.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99232" y="17373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218688" y="1051560"/>
            <a:ext cx="28529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18688" y="1051560"/>
            <a:ext cx="285292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15968" y="1188720"/>
            <a:ext cx="658368" cy="6583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15968" y="1188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310128" y="193852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310128" y="2331720"/>
            <a:ext cx="26700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tokenizer normalizes text: lowercase, removes stopwords, and splits by whitespace and punctuation boundaries.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61888" y="17373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181344" y="1051560"/>
            <a:ext cx="285292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1051560"/>
            <a:ext cx="2852928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78624" y="1188720"/>
            <a:ext cx="658368" cy="65836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78624" y="1188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272784" y="1938528"/>
            <a:ext cx="2670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Frequency Map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72784" y="2331720"/>
            <a:ext cx="267004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term-frequency map of candidate tokens; calculates density per technical keyword present in the job post.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56032" y="3337560"/>
            <a:ext cx="8631936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56032" y="3337560"/>
            <a:ext cx="164592" cy="13258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3383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37490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Score  =  ( Matching Keywords  ÷  Total Job Requirements )  ×  100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48640" y="42976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stored as match_percentage (INT) on the Application record — visible to employer on the ATS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Real-Time Communication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097280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13716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118872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STOMP over WebSockets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61872" y="1572768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(Simple Text Oriented Messaging Protocol) provides structured pub/sub messaging on top of the raw WebSocket connection — enabling topic-based channel routing.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" y="2395728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395728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67004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248716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Channel Subscription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61872" y="2871216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conversation has a unique channel key derived from both user IDs. Only the two authenticated participants can subscribe — ensuring message privacy.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20040" y="3694176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694176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968496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61872" y="378561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Notification Events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261872" y="4169664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Non-chat events (Application status change, Interview invite) are broadcast via dedicated WebSocket topics — received in real-time on the recipient's browser tab.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6032" y="1078992"/>
            <a:ext cx="285292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078992"/>
            <a:ext cx="2852928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53312" y="1234440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252728"/>
            <a:ext cx="621792" cy="621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" y="1993392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 Password Hashing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7472" y="2578608"/>
            <a:ext cx="267004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passwords are hashed with BCrypt (work factor 10) before storage. Plaintext passwords are never persisted — protecting users even in the event of a DB breach.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18688" y="1078992"/>
            <a:ext cx="285292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18688" y="1078992"/>
            <a:ext cx="28529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15968" y="1234440"/>
            <a:ext cx="658368" cy="6583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252728"/>
            <a:ext cx="621792" cy="6217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10128" y="1993392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Stateless JWT Authentication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3310128" y="2578608"/>
            <a:ext cx="267004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issued on login carry user identity and role. No server-side sessions — each request is self-verified, enabling zero-overhead horizontal scaling.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81344" y="1078992"/>
            <a:ext cx="285292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81344" y="1078992"/>
            <a:ext cx="2852928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278624" y="1234440"/>
            <a:ext cx="658368" cy="6583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252728"/>
            <a:ext cx="621792" cy="6217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72784" y="1993392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&amp; CSRF Protection Policies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272784" y="2578608"/>
            <a:ext cx="267004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Resource Sharing restricted to the known frontend origin. CSRF tokens enforced on all state-changing endpoints to prevent cross-site request forgery attacks.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" y="1097280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097280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" y="137160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61872" y="118872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261872" y="1572768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service-layer methods validated in isolation using JUnit 5 and Mockito. Tests cover AI scoring logic, JWT generation, and password hashing functions independently.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137160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2395728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2395728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0352" y="2670048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2670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61872" y="248716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Testing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261872" y="2871216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verified end-to-end using MockMvc and Postman collections. Tests confirm correct HTTP status codes, response payloads, and database mutations.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2670048"/>
            <a:ext cx="548640" cy="54864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2670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0040" y="3694176"/>
            <a:ext cx="8503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" y="3694176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0352" y="3968496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" y="3968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261872" y="378561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UAT — End-to-End Flow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261872" y="4169664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(seeker + employer personas) execute complete journeys: Register → Apply → AI Score → Chat → Interview — validating the full recruitment lifecycle.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3968496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" y="3968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74336"/>
            <a:ext cx="77724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— Intelligent Recruitment Ecosystem  |  Final Year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7433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"/>
            <a:ext cx="594360" cy="594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6032" y="1078992"/>
            <a:ext cx="285292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078992"/>
            <a:ext cx="2852928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53312" y="1234440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252728"/>
            <a:ext cx="621792" cy="621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" y="1993392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WebRTC Video Interviews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7472" y="2578608"/>
            <a:ext cx="267004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external tools like Google Meet with a built-in, browser-based P2P video call feature using WebRTC — keeping the entire interview within HireHub.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18688" y="1078992"/>
            <a:ext cx="285292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18688" y="1078992"/>
            <a:ext cx="2852928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15968" y="1234440"/>
            <a:ext cx="658368" cy="65836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252728"/>
            <a:ext cx="621792" cy="6217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10128" y="1993392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LLM-Based Deep Resume Insights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3310128" y="2578608"/>
            <a:ext cx="267004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Groq or OpenAI APIs to generate natural-language summaries of candidate strengths and gaps, giving recruiters instant narrative insights beyond a match score.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81344" y="1078992"/>
            <a:ext cx="2852928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81344" y="1078992"/>
            <a:ext cx="28529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278624" y="1234440"/>
            <a:ext cx="658368" cy="6583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1252728"/>
            <a:ext cx="621792" cy="6217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72784" y="1993392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 Mobile Application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272784" y="2578608"/>
            <a:ext cx="2670048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the seeker-facing UI to a React Native app for iOS and Android, enabling on-the-go job search, chat, and real-time push notifications via FCM.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657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258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8229600" cy="768096"/>
          </a:xfrm>
          <a:prstGeom prst="rect">
            <a:avLst/>
          </a:prstGeom>
          <a:solidFill>
            <a:srgbClr val="1A3550"/>
          </a:solidFill>
          <a:ln w="12700">
            <a:solidFill>
              <a:srgbClr val="2A4F7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2148840"/>
            <a:ext cx="109728" cy="768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21762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Lifecycle Automation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24780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successfully automates the complete recruitment lifecycle — from AI-scored resume matching to real-time ATS status management and integrated messaging.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3035808"/>
            <a:ext cx="8229600" cy="768096"/>
          </a:xfrm>
          <a:prstGeom prst="rect">
            <a:avLst/>
          </a:prstGeom>
          <a:solidFill>
            <a:srgbClr val="1A3550"/>
          </a:solidFill>
          <a:ln w="12700">
            <a:solidFill>
              <a:srgbClr val="2A4F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035808"/>
            <a:ext cx="109728" cy="768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30632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Full-Stack Mastery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13232" y="33649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proficiency in React 19, Spring Boot 3, WebSockets, JWT Security, MySQL, and NLP-based text analysis — a complete modern tech stack.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922776"/>
            <a:ext cx="8229600" cy="768096"/>
          </a:xfrm>
          <a:prstGeom prst="rect">
            <a:avLst/>
          </a:prstGeom>
          <a:solidFill>
            <a:srgbClr val="1A3550"/>
          </a:solidFill>
          <a:ln w="12700">
            <a:solidFill>
              <a:srgbClr val="2A4F7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922776"/>
            <a:ext cx="109728" cy="7680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9502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Production-Ready Architecture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13232" y="42519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3-tier architecture, stateless JWT design, and cloud-based storage ensure HireHub is ready for real-world deployment and horizontal scalability.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47548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1861</Words>
  <Application>Microsoft Office PowerPoint</Application>
  <PresentationFormat>On-screen Show (16:9)</PresentationFormat>
  <Paragraphs>294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HireHub: An Intelligent Job Portal</dc:title>
  <dc:subject>PptxGenJS Presentation</dc:subject>
  <dc:creator>PptxGenJS</dc:creator>
  <cp:lastModifiedBy>mayur shewale</cp:lastModifiedBy>
  <cp:revision>2</cp:revision>
  <dcterms:created xsi:type="dcterms:W3CDTF">2026-05-15T14:56:30Z</dcterms:created>
  <dcterms:modified xsi:type="dcterms:W3CDTF">2026-05-15T14:58:44Z</dcterms:modified>
</cp:coreProperties>
</file>